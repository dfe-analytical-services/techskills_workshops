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56" r:id="rId2"/>
    <p:sldId id="257" r:id="rId3"/>
    <p:sldId id="277" r:id="rId4"/>
    <p:sldId id="272" r:id="rId5"/>
    <p:sldId id="268" r:id="rId6"/>
    <p:sldId id="271" r:id="rId7"/>
    <p:sldId id="273" r:id="rId8"/>
    <p:sldId id="269" r:id="rId9"/>
    <p:sldId id="270" r:id="rId10"/>
    <p:sldId id="275" r:id="rId11"/>
    <p:sldId id="261" r:id="rId12"/>
    <p:sldId id="27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9CAB0BB-2211-457F-AAAC-1C17F118395B}">
          <p14:sldIdLst>
            <p14:sldId id="256"/>
          </p14:sldIdLst>
        </p14:section>
        <p14:section name="Introduction" id="{00ECBA4F-322D-4FBD-9D49-C8877E291C4E}">
          <p14:sldIdLst>
            <p14:sldId id="257"/>
            <p14:sldId id="277"/>
            <p14:sldId id="272"/>
            <p14:sldId id="268"/>
            <p14:sldId id="271"/>
            <p14:sldId id="273"/>
            <p14:sldId id="269"/>
            <p14:sldId id="270"/>
            <p14:sldId id="275"/>
          </p14:sldIdLst>
        </p14:section>
        <p14:section name="Getting set up" id="{DB08BAA9-0D66-49AE-8CD1-F21BFB1D8F82}">
          <p14:sldIdLst>
            <p14:sldId id="261"/>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156" d="100"/>
          <a:sy n="156" d="100"/>
        </p:scale>
        <p:origin x="50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6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7E3A1397-DDBE-4990-A86F-207B0B9A1F2C}" type="datetimeFigureOut">
              <a:rPr lang="en-GB" smtClean="0"/>
              <a:t>06/11/2025</a:t>
            </a:fld>
            <a:endParaRPr lang="en-GB"/>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GB"/>
          </a:p>
        </p:txBody>
      </p:sp>
      <p:sp>
        <p:nvSpPr>
          <p:cNvPr id="6" name="Slide Number Placeholder 5"/>
          <p:cNvSpPr>
            <a:spLocks noGrp="1"/>
          </p:cNvSpPr>
          <p:nvPr>
            <p:ph type="sldNum" sz="quarter" idx="12"/>
          </p:nvPr>
        </p:nvSpPr>
        <p:spPr/>
        <p:txBody>
          <a:bodyPr vert="horz" lIns="45720" tIns="45720" rIns="45720" bIns="45720" rtlCol="0" anchor="ctr">
            <a:normAutofit/>
          </a:bodyPr>
          <a:lstStyle>
            <a:lvl1pPr>
              <a:defRPr lang="en-US"/>
            </a:lvl1pPr>
          </a:lstStyle>
          <a:p>
            <a:fld id="{0F87B66B-C201-474E-83BE-4EEE82A9C28B}" type="slidenum">
              <a:rPr lang="en-GB" smtClean="0"/>
              <a:t>‹#›</a:t>
            </a:fld>
            <a:endParaRPr lang="en-GB"/>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556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3A1397-DDBE-4990-A86F-207B0B9A1F2C}" type="datetimeFigureOut">
              <a:rPr lang="en-GB" smtClean="0"/>
              <a:t>06/11/2025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87B66B-C201-474E-83BE-4EEE82A9C28B}" type="slidenum">
              <a:rPr lang="en-GB" smtClean="0"/>
              <a:t>‹#›</a:t>
            </a:fld>
            <a:endParaRPr lang="en-GB"/>
          </a:p>
        </p:txBody>
      </p:sp>
    </p:spTree>
    <p:extLst>
      <p:ext uri="{BB962C8B-B14F-4D97-AF65-F5344CB8AC3E}">
        <p14:creationId xmlns:p14="http://schemas.microsoft.com/office/powerpoint/2010/main" val="2541718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3A1397-DDBE-4990-A86F-207B0B9A1F2C}" type="datetimeFigureOut">
              <a:rPr lang="en-GB" smtClean="0"/>
              <a:t>06/11/2025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87B66B-C201-474E-83BE-4EEE82A9C28B}" type="slidenum">
              <a:rPr lang="en-GB" smtClean="0"/>
              <a:t>‹#›</a:t>
            </a:fld>
            <a:endParaRPr lang="en-GB"/>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10872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3A1397-DDBE-4990-A86F-207B0B9A1F2C}" type="datetimeFigureOut">
              <a:rPr lang="en-GB" smtClean="0"/>
              <a:t>06/11/2025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87B66B-C201-474E-83BE-4EEE82A9C28B}" type="slidenum">
              <a:rPr lang="en-GB" smtClean="0"/>
              <a:t>‹#›</a:t>
            </a:fld>
            <a:endParaRPr lang="en-GB"/>
          </a:p>
        </p:txBody>
      </p:sp>
    </p:spTree>
    <p:extLst>
      <p:ext uri="{BB962C8B-B14F-4D97-AF65-F5344CB8AC3E}">
        <p14:creationId xmlns:p14="http://schemas.microsoft.com/office/powerpoint/2010/main" val="337538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7879"/>
            <a:ext cx="4480560" cy="731520"/>
          </a:xfrm>
        </p:spPr>
        <p:txBody>
          <a:bodyPr anchor="b">
            <a:normAutofit/>
          </a:bodyPr>
          <a:lstStyle>
            <a:lvl1pPr marL="0" indent="0">
              <a:spcBef>
                <a:spcPts val="0"/>
              </a:spcBef>
              <a:buNone/>
              <a:defRPr sz="2000" b="0">
                <a:solidFill>
                  <a:schemeClr val="tx1">
                    <a:lumMod val="6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3"/>
          </p:nvPr>
        </p:nvSpPr>
        <p:spPr>
          <a:xfrm>
            <a:off x="6126480" y="1717879"/>
            <a:ext cx="4480560" cy="731520"/>
          </a:xfrm>
        </p:spPr>
        <p:txBody>
          <a:bodyPr anchor="b">
            <a:normAutofit/>
          </a:bodyPr>
          <a:lstStyle>
            <a:lvl1pPr marL="0" indent="0">
              <a:spcBef>
                <a:spcPts val="0"/>
              </a:spcBef>
              <a:buFontTx/>
              <a:buNone/>
              <a:defRPr lang="en-US" sz="2000" b="0" kern="1200" spc="10" baseline="0" dirty="0">
                <a:solidFill>
                  <a:schemeClr val="tx1">
                    <a:lumMod val="65000"/>
                  </a:schemeClr>
                </a:solidFill>
                <a:latin typeface="+mn-lt"/>
                <a:ea typeface="+mn-ea"/>
                <a:cs typeface="+mn-cs"/>
              </a:defRPr>
            </a:lvl1pPr>
          </a:lstStyle>
          <a:p>
            <a:pPr lvl="0"/>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E3A1397-DDBE-4990-A86F-207B0B9A1F2C}" type="datetimeFigureOut">
              <a:rPr lang="en-GB" smtClean="0"/>
              <a:t>06/11/2025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F87B66B-C201-474E-83BE-4EEE82A9C28B}" type="slidenum">
              <a:rPr lang="en-GB" smtClean="0"/>
              <a:t>‹#›</a:t>
            </a:fld>
            <a:endParaRPr lang="en-GB"/>
          </a:p>
        </p:txBody>
      </p:sp>
    </p:spTree>
    <p:extLst>
      <p:ext uri="{BB962C8B-B14F-4D97-AF65-F5344CB8AC3E}">
        <p14:creationId xmlns:p14="http://schemas.microsoft.com/office/powerpoint/2010/main" val="3493078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3A1397-DDBE-4990-A86F-207B0B9A1F2C}" type="datetimeFigureOut">
              <a:rPr lang="en-GB" smtClean="0"/>
              <a:t>06/11/2025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F87B66B-C201-474E-83BE-4EEE82A9C28B}" type="slidenum">
              <a:rPr lang="en-GB" smtClean="0"/>
              <a:t>‹#›</a:t>
            </a:fld>
            <a:endParaRPr lang="en-GB"/>
          </a:p>
        </p:txBody>
      </p:sp>
    </p:spTree>
    <p:extLst>
      <p:ext uri="{BB962C8B-B14F-4D97-AF65-F5344CB8AC3E}">
        <p14:creationId xmlns:p14="http://schemas.microsoft.com/office/powerpoint/2010/main" val="2915379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3A1397-DDBE-4990-A86F-207B0B9A1F2C}" type="datetimeFigureOut">
              <a:rPr lang="en-GB" smtClean="0"/>
              <a:t>06/11/2025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F87B66B-C201-474E-83BE-4EEE82A9C28B}" type="slidenum">
              <a:rPr lang="en-GB" smtClean="0"/>
              <a:t>‹#›</a:t>
            </a:fld>
            <a:endParaRPr lang="en-GB"/>
          </a:p>
        </p:txBody>
      </p:sp>
    </p:spTree>
    <p:extLst>
      <p:ext uri="{BB962C8B-B14F-4D97-AF65-F5344CB8AC3E}">
        <p14:creationId xmlns:p14="http://schemas.microsoft.com/office/powerpoint/2010/main" val="3732871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3A1397-DDBE-4990-A86F-207B0B9A1F2C}" type="datetimeFigureOut">
              <a:rPr lang="en-GB" smtClean="0"/>
              <a:t>06/11/2025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87B66B-C201-474E-83BE-4EEE82A9C28B}" type="slidenum">
              <a:rPr lang="en-GB" smtClean="0"/>
              <a:t>‹#›</a:t>
            </a:fld>
            <a:endParaRPr lang="en-GB"/>
          </a:p>
        </p:txBody>
      </p:sp>
    </p:spTree>
    <p:extLst>
      <p:ext uri="{BB962C8B-B14F-4D97-AF65-F5344CB8AC3E}">
        <p14:creationId xmlns:p14="http://schemas.microsoft.com/office/powerpoint/2010/main" val="1585185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tx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3A1397-DDBE-4990-A86F-207B0B9A1F2C}" type="datetimeFigureOut">
              <a:rPr lang="en-GB" smtClean="0"/>
              <a:t>06/11/2025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87B66B-C201-474E-83BE-4EEE82A9C28B}" type="slidenum">
              <a:rPr lang="en-GB" smtClean="0"/>
              <a:t>‹#›</a:t>
            </a:fld>
            <a:endParaRPr lang="en-GB"/>
          </a:p>
        </p:txBody>
      </p:sp>
    </p:spTree>
    <p:extLst>
      <p:ext uri="{BB962C8B-B14F-4D97-AF65-F5344CB8AC3E}">
        <p14:creationId xmlns:p14="http://schemas.microsoft.com/office/powerpoint/2010/main" val="464562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3A1397-DDBE-4990-A86F-207B0B9A1F2C}" type="datetimeFigureOut">
              <a:rPr lang="en-GB" smtClean="0"/>
              <a:t>06/11/2025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87B66B-C201-474E-83BE-4EEE82A9C28B}" type="slidenum">
              <a:rPr lang="en-GB" smtClean="0"/>
              <a:t>‹#›</a:t>
            </a:fld>
            <a:endParaRPr lang="en-GB"/>
          </a:p>
        </p:txBody>
      </p:sp>
    </p:spTree>
    <p:extLst>
      <p:ext uri="{BB962C8B-B14F-4D97-AF65-F5344CB8AC3E}">
        <p14:creationId xmlns:p14="http://schemas.microsoft.com/office/powerpoint/2010/main" val="1640236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3A1397-DDBE-4990-A86F-207B0B9A1F2C}" type="datetimeFigureOut">
              <a:rPr lang="en-GB" smtClean="0"/>
              <a:t>06/11/2025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87B66B-C201-474E-83BE-4EEE82A9C28B}" type="slidenum">
              <a:rPr lang="en-GB" smtClean="0"/>
              <a:t>‹#›</a:t>
            </a:fld>
            <a:endParaRPr lang="en-GB"/>
          </a:p>
        </p:txBody>
      </p:sp>
    </p:spTree>
    <p:extLst>
      <p:ext uri="{BB962C8B-B14F-4D97-AF65-F5344CB8AC3E}">
        <p14:creationId xmlns:p14="http://schemas.microsoft.com/office/powerpoint/2010/main" val="653012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1">
                    <a:lumMod val="50000"/>
                  </a:schemeClr>
                </a:solidFill>
              </a:defRPr>
            </a:lvl1pPr>
          </a:lstStyle>
          <a:p>
            <a:fld id="{7E3A1397-DDBE-4990-A86F-207B0B9A1F2C}" type="datetimeFigureOut">
              <a:rPr lang="en-GB" smtClean="0"/>
              <a:t>06/11/2025</a:t>
            </a:fld>
            <a:endParaRPr lang="en-GB"/>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rgbClr val="969696"/>
                </a:solidFill>
              </a:defRPr>
            </a:lvl1pPr>
          </a:lstStyle>
          <a:p>
            <a:endParaRPr lang="en-GB"/>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rgbClr val="777777"/>
                </a:solidFill>
              </a:defRPr>
            </a:lvl1pPr>
          </a:lstStyle>
          <a:p>
            <a:fld id="{0F87B66B-C201-474E-83BE-4EEE82A9C28B}" type="slidenum">
              <a:rPr lang="en-GB" smtClean="0"/>
              <a:t>‹#›</a:t>
            </a:fld>
            <a:endParaRPr lang="en-GB"/>
          </a:p>
        </p:txBody>
      </p:sp>
    </p:spTree>
    <p:extLst>
      <p:ext uri="{BB962C8B-B14F-4D97-AF65-F5344CB8AC3E}">
        <p14:creationId xmlns:p14="http://schemas.microsoft.com/office/powerpoint/2010/main" val="2463369788"/>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dfe-analytical-services/techskills_workshops/blob/main/workshop_R.pdf"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1F380-B7BC-952D-9C7F-6EC53C83BE68}"/>
              </a:ext>
            </a:extLst>
          </p:cNvPr>
          <p:cNvSpPr>
            <a:spLocks noGrp="1"/>
          </p:cNvSpPr>
          <p:nvPr>
            <p:ph type="ctrTitle"/>
          </p:nvPr>
        </p:nvSpPr>
        <p:spPr/>
        <p:txBody>
          <a:bodyPr>
            <a:normAutofit/>
          </a:bodyPr>
          <a:lstStyle/>
          <a:p>
            <a:r>
              <a:rPr lang="en-GB" dirty="0"/>
              <a:t>Introduction to R for Reproducible Analytical Pipelines</a:t>
            </a:r>
          </a:p>
        </p:txBody>
      </p:sp>
      <p:sp>
        <p:nvSpPr>
          <p:cNvPr id="3" name="Subtitle 2">
            <a:extLst>
              <a:ext uri="{FF2B5EF4-FFF2-40B4-BE49-F238E27FC236}">
                <a16:creationId xmlns:a16="http://schemas.microsoft.com/office/drawing/2014/main" id="{8265F0FA-EC23-999C-CDB1-F8649DC25EC9}"/>
              </a:ext>
            </a:extLst>
          </p:cNvPr>
          <p:cNvSpPr>
            <a:spLocks noGrp="1"/>
          </p:cNvSpPr>
          <p:nvPr>
            <p:ph type="subTitle" idx="1"/>
          </p:nvPr>
        </p:nvSpPr>
        <p:spPr/>
        <p:txBody>
          <a:bodyPr/>
          <a:lstStyle/>
          <a:p>
            <a:r>
              <a:rPr lang="en-GB" dirty="0"/>
              <a:t>Statistics Services Unit</a:t>
            </a:r>
          </a:p>
        </p:txBody>
      </p:sp>
    </p:spTree>
    <p:extLst>
      <p:ext uri="{BB962C8B-B14F-4D97-AF65-F5344CB8AC3E}">
        <p14:creationId xmlns:p14="http://schemas.microsoft.com/office/powerpoint/2010/main" val="161412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FFCC9-0B72-4915-1B0B-966792DCBE59}"/>
              </a:ext>
            </a:extLst>
          </p:cNvPr>
          <p:cNvSpPr>
            <a:spLocks noGrp="1"/>
          </p:cNvSpPr>
          <p:nvPr>
            <p:ph type="title"/>
          </p:nvPr>
        </p:nvSpPr>
        <p:spPr/>
        <p:txBody>
          <a:bodyPr/>
          <a:lstStyle/>
          <a:p>
            <a:r>
              <a:rPr lang="en-GB" dirty="0"/>
              <a:t>Aims of this workshop</a:t>
            </a:r>
          </a:p>
        </p:txBody>
      </p:sp>
      <p:sp>
        <p:nvSpPr>
          <p:cNvPr id="3" name="Content Placeholder 2">
            <a:extLst>
              <a:ext uri="{FF2B5EF4-FFF2-40B4-BE49-F238E27FC236}">
                <a16:creationId xmlns:a16="http://schemas.microsoft.com/office/drawing/2014/main" id="{FA2BE003-036C-79C3-259B-5569D95C7E19}"/>
              </a:ext>
            </a:extLst>
          </p:cNvPr>
          <p:cNvSpPr>
            <a:spLocks noGrp="1"/>
          </p:cNvSpPr>
          <p:nvPr>
            <p:ph idx="1"/>
          </p:nvPr>
        </p:nvSpPr>
        <p:spPr/>
        <p:txBody>
          <a:bodyPr>
            <a:normAutofit/>
          </a:bodyPr>
          <a:lstStyle/>
          <a:p>
            <a:r>
              <a:rPr lang="en-GB" dirty="0"/>
              <a:t>Understand the benefits of Reproducible Analytical Pipelines (RAP)</a:t>
            </a:r>
          </a:p>
          <a:p>
            <a:pPr lvl="1"/>
            <a:r>
              <a:rPr lang="en-GB" dirty="0"/>
              <a:t>What does RAP mean?</a:t>
            </a:r>
          </a:p>
          <a:p>
            <a:pPr lvl="1"/>
            <a:r>
              <a:rPr lang="en-GB" dirty="0"/>
              <a:t>What is the point of RAP?</a:t>
            </a:r>
          </a:p>
          <a:p>
            <a:pPr lvl="1"/>
            <a:r>
              <a:rPr lang="en-GB" dirty="0"/>
              <a:t>Why invest time to apply RAP principles?</a:t>
            </a:r>
          </a:p>
          <a:p>
            <a:r>
              <a:rPr lang="en-GB" dirty="0"/>
              <a:t>Gain confidence with coding in R</a:t>
            </a:r>
          </a:p>
          <a:p>
            <a:pPr lvl="1"/>
            <a:r>
              <a:rPr lang="en-GB" dirty="0"/>
              <a:t>Understand what R is, its format and syntax</a:t>
            </a:r>
          </a:p>
          <a:p>
            <a:pPr lvl="1"/>
            <a:r>
              <a:rPr lang="en-GB" dirty="0"/>
              <a:t>Learn how to read in data; clean, manipulate and join datasets; plot charts</a:t>
            </a:r>
          </a:p>
          <a:p>
            <a:pPr lvl="1"/>
            <a:r>
              <a:rPr lang="en-GB" dirty="0"/>
              <a:t>Understand how R can be applied to your work</a:t>
            </a:r>
          </a:p>
          <a:p>
            <a:r>
              <a:rPr lang="en-GB" dirty="0"/>
              <a:t>Gain understanding of how we can use R for RAP processes</a:t>
            </a:r>
          </a:p>
          <a:p>
            <a:pPr lvl="1"/>
            <a:r>
              <a:rPr lang="en-GB" dirty="0"/>
              <a:t>Connecting to databases</a:t>
            </a:r>
          </a:p>
          <a:p>
            <a:pPr lvl="1"/>
            <a:r>
              <a:rPr lang="en-GB" dirty="0"/>
              <a:t>Writing functions</a:t>
            </a:r>
          </a:p>
          <a:p>
            <a:pPr lvl="1"/>
            <a:r>
              <a:rPr lang="en-GB" dirty="0"/>
              <a:t>Using “if” and “if else” statements </a:t>
            </a:r>
          </a:p>
          <a:p>
            <a:endParaRPr lang="en-GB" dirty="0"/>
          </a:p>
        </p:txBody>
      </p:sp>
    </p:spTree>
    <p:extLst>
      <p:ext uri="{BB962C8B-B14F-4D97-AF65-F5344CB8AC3E}">
        <p14:creationId xmlns:p14="http://schemas.microsoft.com/office/powerpoint/2010/main" val="304461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248CA-32A0-7285-9508-91F31A882237}"/>
              </a:ext>
            </a:extLst>
          </p:cNvPr>
          <p:cNvSpPr>
            <a:spLocks noGrp="1"/>
          </p:cNvSpPr>
          <p:nvPr>
            <p:ph type="title"/>
          </p:nvPr>
        </p:nvSpPr>
        <p:spPr/>
        <p:txBody>
          <a:bodyPr>
            <a:normAutofit/>
          </a:bodyPr>
          <a:lstStyle/>
          <a:p>
            <a:r>
              <a:rPr lang="en-GB" dirty="0"/>
              <a:t>Do you have any blockers or pain points with using R?</a:t>
            </a:r>
          </a:p>
        </p:txBody>
      </p:sp>
    </p:spTree>
    <p:extLst>
      <p:ext uri="{BB962C8B-B14F-4D97-AF65-F5344CB8AC3E}">
        <p14:creationId xmlns:p14="http://schemas.microsoft.com/office/powerpoint/2010/main" val="313665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A85F2-4547-7FBD-E742-54C6CB329011}"/>
              </a:ext>
            </a:extLst>
          </p:cNvPr>
          <p:cNvSpPr>
            <a:spLocks noGrp="1"/>
          </p:cNvSpPr>
          <p:nvPr>
            <p:ph type="title"/>
          </p:nvPr>
        </p:nvSpPr>
        <p:spPr/>
        <p:txBody>
          <a:bodyPr/>
          <a:lstStyle/>
          <a:p>
            <a:r>
              <a:rPr lang="en-GB" dirty="0"/>
              <a:t>Do you have any blockers or pain points with using R?</a:t>
            </a:r>
          </a:p>
        </p:txBody>
      </p:sp>
      <p:sp>
        <p:nvSpPr>
          <p:cNvPr id="3" name="Content Placeholder 2">
            <a:extLst>
              <a:ext uri="{FF2B5EF4-FFF2-40B4-BE49-F238E27FC236}">
                <a16:creationId xmlns:a16="http://schemas.microsoft.com/office/drawing/2014/main" id="{6CE056C5-8398-550B-45FC-EA1CC0B7C855}"/>
              </a:ext>
            </a:extLst>
          </p:cNvPr>
          <p:cNvSpPr>
            <a:spLocks noGrp="1"/>
          </p:cNvSpPr>
          <p:nvPr>
            <p:ph idx="1"/>
          </p:nvPr>
        </p:nvSpPr>
        <p:spPr/>
        <p:txBody>
          <a:bodyPr/>
          <a:lstStyle/>
          <a:p>
            <a:r>
              <a:rPr lang="en-GB" dirty="0"/>
              <a:t>Limited team or personal knowledge/capability</a:t>
            </a:r>
          </a:p>
          <a:p>
            <a:r>
              <a:rPr lang="en-GB" dirty="0"/>
              <a:t>Not enough support within the department</a:t>
            </a:r>
          </a:p>
          <a:p>
            <a:r>
              <a:rPr lang="en-GB" dirty="0"/>
              <a:t>Challenges in setting up R / RStudio on work laptops and getting it to work, e.g., package issues, connecting to databases…</a:t>
            </a:r>
          </a:p>
          <a:p>
            <a:r>
              <a:rPr lang="en-GB" dirty="0"/>
              <a:t>Don’t see any benefit compared to existing processes, i.e. using SQL or Excel</a:t>
            </a:r>
          </a:p>
          <a:p>
            <a:r>
              <a:rPr lang="en-GB" dirty="0"/>
              <a:t>Not enough time to learn it alongside other important skills</a:t>
            </a:r>
          </a:p>
          <a:p>
            <a:r>
              <a:rPr lang="en-GB" dirty="0"/>
              <a:t>The leap from the learning to the real-life applications is too big</a:t>
            </a:r>
          </a:p>
          <a:p>
            <a:endParaRPr lang="en-GB" dirty="0"/>
          </a:p>
        </p:txBody>
      </p:sp>
    </p:spTree>
    <p:extLst>
      <p:ext uri="{BB962C8B-B14F-4D97-AF65-F5344CB8AC3E}">
        <p14:creationId xmlns:p14="http://schemas.microsoft.com/office/powerpoint/2010/main" val="182836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F0915-82AB-EF2E-6E65-9B4AE665E091}"/>
              </a:ext>
            </a:extLst>
          </p:cNvPr>
          <p:cNvSpPr>
            <a:spLocks noGrp="1"/>
          </p:cNvSpPr>
          <p:nvPr>
            <p:ph type="title"/>
          </p:nvPr>
        </p:nvSpPr>
        <p:spPr/>
        <p:txBody>
          <a:bodyPr/>
          <a:lstStyle/>
          <a:p>
            <a:r>
              <a:rPr lang="en-GB" dirty="0"/>
              <a:t>What is R?</a:t>
            </a:r>
          </a:p>
        </p:txBody>
      </p:sp>
      <p:sp>
        <p:nvSpPr>
          <p:cNvPr id="3" name="Content Placeholder 2">
            <a:extLst>
              <a:ext uri="{FF2B5EF4-FFF2-40B4-BE49-F238E27FC236}">
                <a16:creationId xmlns:a16="http://schemas.microsoft.com/office/drawing/2014/main" id="{4DC9CE65-9442-8FB9-7571-B418217290A2}"/>
              </a:ext>
            </a:extLst>
          </p:cNvPr>
          <p:cNvSpPr>
            <a:spLocks noGrp="1"/>
          </p:cNvSpPr>
          <p:nvPr>
            <p:ph idx="1"/>
          </p:nvPr>
        </p:nvSpPr>
        <p:spPr/>
        <p:txBody>
          <a:bodyPr/>
          <a:lstStyle/>
          <a:p>
            <a:r>
              <a:rPr lang="en-GB" dirty="0"/>
              <a:t>R is a coding language. There are many different languages of code, some others include SQL, python, JavaScript and many more. They all have benefits, and the difference is often the syntax used (literally like learning new languages!) </a:t>
            </a:r>
          </a:p>
          <a:p>
            <a:r>
              <a:rPr lang="en-GB" dirty="0"/>
              <a:t>R is open-source, meaning it is free, anyone can use it and anyone can contribute to developing new ‘packages’</a:t>
            </a:r>
          </a:p>
          <a:p>
            <a:pPr lvl="1"/>
            <a:r>
              <a:rPr lang="en-GB" dirty="0"/>
              <a:t>A package is a set of functions someone else has written and tied together in a nice neat bow, ready for you to use. By installing the package you’ll have all of those functions available</a:t>
            </a:r>
          </a:p>
          <a:p>
            <a:pPr lvl="1"/>
            <a:r>
              <a:rPr lang="en-GB" dirty="0"/>
              <a:t>A function is a chunk of code that has been grouped together, given a name, and often has ‘place holders’ you can change to apply it to different data </a:t>
            </a:r>
          </a:p>
          <a:p>
            <a:pPr lvl="2"/>
            <a:r>
              <a:rPr lang="en-GB" dirty="0"/>
              <a:t>E.g., mean(x) is a function that calculates the arithmetic mean of x, where x can be replaced with any numeric data</a:t>
            </a:r>
          </a:p>
        </p:txBody>
      </p:sp>
    </p:spTree>
    <p:extLst>
      <p:ext uri="{BB962C8B-B14F-4D97-AF65-F5344CB8AC3E}">
        <p14:creationId xmlns:p14="http://schemas.microsoft.com/office/powerpoint/2010/main" val="4123275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580FA-7B1A-DE39-0F93-0C03FAEDEE67}"/>
              </a:ext>
            </a:extLst>
          </p:cNvPr>
          <p:cNvSpPr>
            <a:spLocks noGrp="1"/>
          </p:cNvSpPr>
          <p:nvPr>
            <p:ph type="title"/>
          </p:nvPr>
        </p:nvSpPr>
        <p:spPr/>
        <p:txBody>
          <a:bodyPr/>
          <a:lstStyle/>
          <a:p>
            <a:r>
              <a:rPr lang="en-GB" dirty="0"/>
              <a:t>R vs SQL</a:t>
            </a:r>
          </a:p>
        </p:txBody>
      </p:sp>
      <p:sp>
        <p:nvSpPr>
          <p:cNvPr id="3" name="Content Placeholder 2">
            <a:extLst>
              <a:ext uri="{FF2B5EF4-FFF2-40B4-BE49-F238E27FC236}">
                <a16:creationId xmlns:a16="http://schemas.microsoft.com/office/drawing/2014/main" id="{DF523CBC-ADD1-9D52-C075-DB785A34D736}"/>
              </a:ext>
            </a:extLst>
          </p:cNvPr>
          <p:cNvSpPr>
            <a:spLocks noGrp="1"/>
          </p:cNvSpPr>
          <p:nvPr>
            <p:ph idx="1"/>
          </p:nvPr>
        </p:nvSpPr>
        <p:spPr/>
        <p:txBody>
          <a:bodyPr>
            <a:normAutofit/>
          </a:bodyPr>
          <a:lstStyle/>
          <a:p>
            <a:r>
              <a:rPr lang="en-GB" dirty="0"/>
              <a:t>R and SQL are two different coding languages, but if you already know one, it can make it easier to learn the other as the logic tends to be similar even if the syntax is different</a:t>
            </a:r>
          </a:p>
          <a:p>
            <a:r>
              <a:rPr lang="en-GB" dirty="0"/>
              <a:t>SQL runs processes on a database server, whereas R runs processes on your computer. We recommend doing large scale processing on SQL and then bringing only the data you need for complicated manipulation into R</a:t>
            </a:r>
          </a:p>
          <a:p>
            <a:r>
              <a:rPr lang="en-GB" dirty="0"/>
              <a:t>There’s a grey area in the middle where you can do some things in either tool, sometimes you’ll need to test yourself which way is faster. SQL code can be run through R so you can have a mixture of scripts across the two languages. You should have a ‘centralised’ R script that will run and source both your SQL and R scripts in order </a:t>
            </a:r>
          </a:p>
        </p:txBody>
      </p:sp>
    </p:spTree>
    <p:extLst>
      <p:ext uri="{BB962C8B-B14F-4D97-AF65-F5344CB8AC3E}">
        <p14:creationId xmlns:p14="http://schemas.microsoft.com/office/powerpoint/2010/main" val="3050567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C52A6-7C0D-DCB9-CDEB-D8500751A713}"/>
              </a:ext>
            </a:extLst>
          </p:cNvPr>
          <p:cNvSpPr>
            <a:spLocks noGrp="1"/>
          </p:cNvSpPr>
          <p:nvPr>
            <p:ph type="title"/>
          </p:nvPr>
        </p:nvSpPr>
        <p:spPr>
          <a:xfrm>
            <a:off x="1261872" y="365760"/>
            <a:ext cx="9692640" cy="861623"/>
          </a:xfrm>
        </p:spPr>
        <p:txBody>
          <a:bodyPr/>
          <a:lstStyle/>
          <a:p>
            <a:r>
              <a:rPr lang="en-GB" dirty="0"/>
              <a:t>RStudio</a:t>
            </a:r>
          </a:p>
        </p:txBody>
      </p:sp>
      <p:sp>
        <p:nvSpPr>
          <p:cNvPr id="3" name="Content Placeholder 2">
            <a:extLst>
              <a:ext uri="{FF2B5EF4-FFF2-40B4-BE49-F238E27FC236}">
                <a16:creationId xmlns:a16="http://schemas.microsoft.com/office/drawing/2014/main" id="{CA90B1BF-188B-F462-FCBD-816873B0BFFC}"/>
              </a:ext>
            </a:extLst>
          </p:cNvPr>
          <p:cNvSpPr>
            <a:spLocks noGrp="1"/>
          </p:cNvSpPr>
          <p:nvPr>
            <p:ph idx="1"/>
          </p:nvPr>
        </p:nvSpPr>
        <p:spPr>
          <a:xfrm>
            <a:off x="1261872" y="1315594"/>
            <a:ext cx="8595360" cy="4864544"/>
          </a:xfrm>
        </p:spPr>
        <p:txBody>
          <a:bodyPr/>
          <a:lstStyle/>
          <a:p>
            <a:r>
              <a:rPr lang="en-GB" dirty="0"/>
              <a:t>RStudio is a programme that enables us to code in the R coding language, while also providing a visual and interactive interface. </a:t>
            </a:r>
          </a:p>
          <a:p>
            <a:r>
              <a:rPr lang="en-GB" dirty="0"/>
              <a:t>It has useful windows that enable you to see the tables you have loaded, charts you have created, Git user interface, file explorer, help windows and more!</a:t>
            </a:r>
          </a:p>
          <a:p>
            <a:r>
              <a:rPr lang="en-GB" dirty="0"/>
              <a:t>Normally you will see the screen split into 3 or 4 windows:</a:t>
            </a:r>
          </a:p>
          <a:p>
            <a:endParaRPr lang="en-GB" dirty="0"/>
          </a:p>
        </p:txBody>
      </p:sp>
      <p:pic>
        <p:nvPicPr>
          <p:cNvPr id="5" name="Picture 4">
            <a:extLst>
              <a:ext uri="{FF2B5EF4-FFF2-40B4-BE49-F238E27FC236}">
                <a16:creationId xmlns:a16="http://schemas.microsoft.com/office/drawing/2014/main" id="{7C25FD35-D6F8-9076-DE2C-FBA3D01B52E0}"/>
              </a:ext>
            </a:extLst>
          </p:cNvPr>
          <p:cNvPicPr>
            <a:picLocks noChangeAspect="1"/>
          </p:cNvPicPr>
          <p:nvPr/>
        </p:nvPicPr>
        <p:blipFill>
          <a:blip r:embed="rId2"/>
          <a:stretch>
            <a:fillRect/>
          </a:stretch>
        </p:blipFill>
        <p:spPr>
          <a:xfrm>
            <a:off x="2457890" y="3616680"/>
            <a:ext cx="5438862" cy="2952201"/>
          </a:xfrm>
          <a:prstGeom prst="rect">
            <a:avLst/>
          </a:prstGeom>
        </p:spPr>
      </p:pic>
      <p:sp>
        <p:nvSpPr>
          <p:cNvPr id="6" name="Rectangle 5">
            <a:extLst>
              <a:ext uri="{FF2B5EF4-FFF2-40B4-BE49-F238E27FC236}">
                <a16:creationId xmlns:a16="http://schemas.microsoft.com/office/drawing/2014/main" id="{27B529B7-2EE8-3CB3-E8DA-AE18145E6BB2}"/>
              </a:ext>
            </a:extLst>
          </p:cNvPr>
          <p:cNvSpPr/>
          <p:nvPr/>
        </p:nvSpPr>
        <p:spPr>
          <a:xfrm>
            <a:off x="2457890" y="3786909"/>
            <a:ext cx="2963855" cy="156094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7960E1DA-D6A7-B23F-D6D1-823B6F7B42A2}"/>
              </a:ext>
            </a:extLst>
          </p:cNvPr>
          <p:cNvSpPr/>
          <p:nvPr/>
        </p:nvSpPr>
        <p:spPr>
          <a:xfrm>
            <a:off x="2457889" y="5436065"/>
            <a:ext cx="2963855" cy="112090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A6A048C5-D118-96D4-CEAD-18693D7B91C5}"/>
              </a:ext>
            </a:extLst>
          </p:cNvPr>
          <p:cNvSpPr/>
          <p:nvPr/>
        </p:nvSpPr>
        <p:spPr>
          <a:xfrm>
            <a:off x="5466145" y="3786909"/>
            <a:ext cx="2430607" cy="91931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2B7E50A4-81C8-F165-ECBD-1804342C6381}"/>
              </a:ext>
            </a:extLst>
          </p:cNvPr>
          <p:cNvSpPr/>
          <p:nvPr/>
        </p:nvSpPr>
        <p:spPr>
          <a:xfrm>
            <a:off x="5466145" y="4756668"/>
            <a:ext cx="2430607" cy="180030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7F4007CB-6B3E-1C22-6FB7-DB13D154AB7E}"/>
              </a:ext>
            </a:extLst>
          </p:cNvPr>
          <p:cNvSpPr txBox="1"/>
          <p:nvPr/>
        </p:nvSpPr>
        <p:spPr>
          <a:xfrm>
            <a:off x="688022" y="4115637"/>
            <a:ext cx="1697205" cy="830997"/>
          </a:xfrm>
          <a:prstGeom prst="rect">
            <a:avLst/>
          </a:prstGeom>
          <a:noFill/>
        </p:spPr>
        <p:txBody>
          <a:bodyPr wrap="square" rtlCol="0">
            <a:spAutoFit/>
          </a:bodyPr>
          <a:lstStyle/>
          <a:p>
            <a:r>
              <a:rPr lang="en-GB" sz="1200" dirty="0"/>
              <a:t>1: Source pane: open and view your code scripts, tables, data sets, functions. </a:t>
            </a:r>
          </a:p>
        </p:txBody>
      </p:sp>
      <p:sp>
        <p:nvSpPr>
          <p:cNvPr id="12" name="TextBox 11">
            <a:extLst>
              <a:ext uri="{FF2B5EF4-FFF2-40B4-BE49-F238E27FC236}">
                <a16:creationId xmlns:a16="http://schemas.microsoft.com/office/drawing/2014/main" id="{6B37168C-5577-31CD-EEDB-E510C6004937}"/>
              </a:ext>
            </a:extLst>
          </p:cNvPr>
          <p:cNvSpPr txBox="1"/>
          <p:nvPr/>
        </p:nvSpPr>
        <p:spPr>
          <a:xfrm>
            <a:off x="688022" y="5395950"/>
            <a:ext cx="1798125" cy="1200329"/>
          </a:xfrm>
          <a:prstGeom prst="rect">
            <a:avLst/>
          </a:prstGeom>
          <a:noFill/>
        </p:spPr>
        <p:txBody>
          <a:bodyPr wrap="square" rtlCol="0">
            <a:spAutoFit/>
          </a:bodyPr>
          <a:lstStyle/>
          <a:p>
            <a:r>
              <a:rPr lang="en-GB" sz="1200" dirty="0"/>
              <a:t>2: Console: shows what you have run, and you can type and run commands directly into the console. </a:t>
            </a:r>
          </a:p>
        </p:txBody>
      </p:sp>
      <p:sp>
        <p:nvSpPr>
          <p:cNvPr id="13" name="TextBox 12">
            <a:extLst>
              <a:ext uri="{FF2B5EF4-FFF2-40B4-BE49-F238E27FC236}">
                <a16:creationId xmlns:a16="http://schemas.microsoft.com/office/drawing/2014/main" id="{9D3DB692-E60E-E3D2-32E5-0740F820CF53}"/>
              </a:ext>
            </a:extLst>
          </p:cNvPr>
          <p:cNvSpPr txBox="1"/>
          <p:nvPr/>
        </p:nvSpPr>
        <p:spPr>
          <a:xfrm>
            <a:off x="7941152" y="3859747"/>
            <a:ext cx="2944579" cy="830997"/>
          </a:xfrm>
          <a:prstGeom prst="rect">
            <a:avLst/>
          </a:prstGeom>
          <a:noFill/>
        </p:spPr>
        <p:txBody>
          <a:bodyPr wrap="square" rtlCol="0">
            <a:spAutoFit/>
          </a:bodyPr>
          <a:lstStyle/>
          <a:p>
            <a:r>
              <a:rPr lang="en-GB" sz="1200" dirty="0"/>
              <a:t>3: Environment / History / Connections / Git (if you have it): the environment shows you what data, functions, objects etc you have.</a:t>
            </a:r>
          </a:p>
        </p:txBody>
      </p:sp>
      <p:sp>
        <p:nvSpPr>
          <p:cNvPr id="14" name="TextBox 13">
            <a:extLst>
              <a:ext uri="{FF2B5EF4-FFF2-40B4-BE49-F238E27FC236}">
                <a16:creationId xmlns:a16="http://schemas.microsoft.com/office/drawing/2014/main" id="{8C96655C-7D9A-2BBE-2F81-BD6FC6A78451}"/>
              </a:ext>
            </a:extLst>
          </p:cNvPr>
          <p:cNvSpPr txBox="1"/>
          <p:nvPr/>
        </p:nvSpPr>
        <p:spPr>
          <a:xfrm>
            <a:off x="7960428" y="5544737"/>
            <a:ext cx="2944579" cy="461665"/>
          </a:xfrm>
          <a:prstGeom prst="rect">
            <a:avLst/>
          </a:prstGeom>
          <a:noFill/>
        </p:spPr>
        <p:txBody>
          <a:bodyPr wrap="square" rtlCol="0">
            <a:spAutoFit/>
          </a:bodyPr>
          <a:lstStyle/>
          <a:p>
            <a:r>
              <a:rPr lang="en-GB" sz="1200" dirty="0"/>
              <a:t>4: File explorer / plots / packages / viewer.</a:t>
            </a:r>
          </a:p>
        </p:txBody>
      </p:sp>
    </p:spTree>
    <p:extLst>
      <p:ext uri="{BB962C8B-B14F-4D97-AF65-F5344CB8AC3E}">
        <p14:creationId xmlns:p14="http://schemas.microsoft.com/office/powerpoint/2010/main" val="3863786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F82BF-1B0B-A48E-3017-2E93FCD61287}"/>
              </a:ext>
            </a:extLst>
          </p:cNvPr>
          <p:cNvSpPr>
            <a:spLocks noGrp="1"/>
          </p:cNvSpPr>
          <p:nvPr>
            <p:ph type="title"/>
          </p:nvPr>
        </p:nvSpPr>
        <p:spPr/>
        <p:txBody>
          <a:bodyPr/>
          <a:lstStyle/>
          <a:p>
            <a:r>
              <a:rPr lang="en-GB" dirty="0"/>
              <a:t>What is RAP?</a:t>
            </a:r>
          </a:p>
        </p:txBody>
      </p:sp>
      <p:sp>
        <p:nvSpPr>
          <p:cNvPr id="3" name="Content Placeholder 2">
            <a:extLst>
              <a:ext uri="{FF2B5EF4-FFF2-40B4-BE49-F238E27FC236}">
                <a16:creationId xmlns:a16="http://schemas.microsoft.com/office/drawing/2014/main" id="{D23D0DCF-B52A-51B9-E9E1-B1BF01360E12}"/>
              </a:ext>
            </a:extLst>
          </p:cNvPr>
          <p:cNvSpPr>
            <a:spLocks noGrp="1"/>
          </p:cNvSpPr>
          <p:nvPr>
            <p:ph idx="1"/>
          </p:nvPr>
        </p:nvSpPr>
        <p:spPr/>
        <p:txBody>
          <a:bodyPr>
            <a:normAutofit/>
          </a:bodyPr>
          <a:lstStyle/>
          <a:p>
            <a:r>
              <a:rPr lang="en-GB" dirty="0"/>
              <a:t>RAP stands for </a:t>
            </a:r>
            <a:r>
              <a:rPr lang="en-GB" b="1" u="sng" dirty="0"/>
              <a:t>R</a:t>
            </a:r>
            <a:r>
              <a:rPr lang="en-GB" dirty="0"/>
              <a:t>eproducible </a:t>
            </a:r>
            <a:r>
              <a:rPr lang="en-GB" b="1" u="sng" dirty="0"/>
              <a:t>A</a:t>
            </a:r>
            <a:r>
              <a:rPr lang="en-GB" dirty="0"/>
              <a:t>nalytical </a:t>
            </a:r>
            <a:r>
              <a:rPr lang="en-GB" b="1" u="sng" dirty="0"/>
              <a:t>P</a:t>
            </a:r>
            <a:r>
              <a:rPr lang="en-GB" dirty="0"/>
              <a:t>ipeline</a:t>
            </a:r>
          </a:p>
          <a:p>
            <a:pPr lvl="1"/>
            <a:r>
              <a:rPr lang="en-GB" dirty="0"/>
              <a:t>This really means using automation to our advantage when analysing data (this could mean writing an R script that carries out analysis at just the click of a button), and ensuring we are transparent</a:t>
            </a:r>
          </a:p>
          <a:p>
            <a:r>
              <a:rPr lang="en-GB" dirty="0"/>
              <a:t>Using R really helps us to put the R (for reproducible) in RAP. Ask yourself: </a:t>
            </a:r>
          </a:p>
          <a:p>
            <a:pPr lvl="1"/>
            <a:r>
              <a:rPr lang="en-GB" dirty="0"/>
              <a:t>Could someone new to your work easily reproduce your exact outputs?</a:t>
            </a:r>
          </a:p>
          <a:p>
            <a:pPr lvl="1"/>
            <a:r>
              <a:rPr lang="en-GB" dirty="0"/>
              <a:t>How easy is it to reproduce your analysis using new data? </a:t>
            </a:r>
          </a:p>
          <a:p>
            <a:pPr lvl="1"/>
            <a:r>
              <a:rPr lang="en-GB" dirty="0"/>
              <a:t>Can the public reproduce your analysis?</a:t>
            </a:r>
          </a:p>
          <a:p>
            <a:r>
              <a:rPr lang="en-GB" dirty="0"/>
              <a:t>In an ideal RAP, it would be as simple as plugging the new data in and clicking 'go', with no need to manually scroll through multiple scripts updating year, file names or variable names</a:t>
            </a:r>
          </a:p>
        </p:txBody>
      </p:sp>
    </p:spTree>
    <p:extLst>
      <p:ext uri="{BB962C8B-B14F-4D97-AF65-F5344CB8AC3E}">
        <p14:creationId xmlns:p14="http://schemas.microsoft.com/office/powerpoint/2010/main" val="1410471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AFED2-1C42-5651-163B-8818BBF3005F}"/>
              </a:ext>
            </a:extLst>
          </p:cNvPr>
          <p:cNvSpPr>
            <a:spLocks noGrp="1"/>
          </p:cNvSpPr>
          <p:nvPr>
            <p:ph type="title"/>
          </p:nvPr>
        </p:nvSpPr>
        <p:spPr/>
        <p:txBody>
          <a:bodyPr/>
          <a:lstStyle/>
          <a:p>
            <a:r>
              <a:rPr lang="en-GB" dirty="0"/>
              <a:t>What are the benefits?</a:t>
            </a:r>
          </a:p>
        </p:txBody>
      </p:sp>
      <p:sp>
        <p:nvSpPr>
          <p:cNvPr id="3" name="Content Placeholder 2">
            <a:extLst>
              <a:ext uri="{FF2B5EF4-FFF2-40B4-BE49-F238E27FC236}">
                <a16:creationId xmlns:a16="http://schemas.microsoft.com/office/drawing/2014/main" id="{F3EFC132-8AC8-5B25-3629-B38C66AF4818}"/>
              </a:ext>
            </a:extLst>
          </p:cNvPr>
          <p:cNvSpPr>
            <a:spLocks noGrp="1"/>
          </p:cNvSpPr>
          <p:nvPr>
            <p:ph idx="1"/>
          </p:nvPr>
        </p:nvSpPr>
        <p:spPr/>
        <p:txBody>
          <a:bodyPr/>
          <a:lstStyle/>
          <a:p>
            <a:r>
              <a:rPr lang="en-GB" dirty="0"/>
              <a:t>We’ve had analytical pipelines for years, but the aim of RAP is to:</a:t>
            </a:r>
          </a:p>
          <a:p>
            <a:pPr lvl="1"/>
            <a:r>
              <a:rPr lang="en-GB" dirty="0"/>
              <a:t>Automate the parts of these pipelines that can be</a:t>
            </a:r>
          </a:p>
          <a:p>
            <a:pPr lvl="1"/>
            <a:r>
              <a:rPr lang="en-GB" dirty="0"/>
              <a:t>Increase efficiency and accuracy</a:t>
            </a:r>
          </a:p>
          <a:p>
            <a:pPr lvl="1"/>
            <a:r>
              <a:rPr lang="en-GB" dirty="0"/>
              <a:t>Create a clear audit trail to allow analyses to easily be re-run if needed </a:t>
            </a:r>
          </a:p>
          <a:p>
            <a:r>
              <a:rPr lang="en-GB" dirty="0"/>
              <a:t>This allows us to focus on the parts of our work where our human input can really add value</a:t>
            </a:r>
          </a:p>
          <a:p>
            <a:r>
              <a:rPr lang="en-GB" dirty="0"/>
              <a:t>RAP is something we can use to reduce the burden on us by getting rid of some of the boring stuff - what’s not to like!</a:t>
            </a:r>
          </a:p>
        </p:txBody>
      </p:sp>
    </p:spTree>
    <p:extLst>
      <p:ext uri="{BB962C8B-B14F-4D97-AF65-F5344CB8AC3E}">
        <p14:creationId xmlns:p14="http://schemas.microsoft.com/office/powerpoint/2010/main" val="1286926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F58B4BF-6286-D367-F8C0-6BBF6985DAF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8637" y="97808"/>
            <a:ext cx="8594725" cy="333119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87C30D8-DFD5-36C0-25BD-581F08C05B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743" y="4848120"/>
            <a:ext cx="10954512" cy="168311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1E32565E-5CB9-A305-C4C9-7AA771471C03}"/>
              </a:ext>
            </a:extLst>
          </p:cNvPr>
          <p:cNvCxnSpPr/>
          <p:nvPr/>
        </p:nvCxnSpPr>
        <p:spPr>
          <a:xfrm>
            <a:off x="6108192" y="3614468"/>
            <a:ext cx="0" cy="1052423"/>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344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7F8EF-BECC-CB05-2042-8E1A2F6D1C1A}"/>
              </a:ext>
            </a:extLst>
          </p:cNvPr>
          <p:cNvSpPr>
            <a:spLocks noGrp="1"/>
          </p:cNvSpPr>
          <p:nvPr>
            <p:ph type="title"/>
          </p:nvPr>
        </p:nvSpPr>
        <p:spPr/>
        <p:txBody>
          <a:bodyPr/>
          <a:lstStyle/>
          <a:p>
            <a:r>
              <a:rPr lang="en-GB" dirty="0"/>
              <a:t>Getting set up</a:t>
            </a:r>
          </a:p>
        </p:txBody>
      </p:sp>
      <p:sp>
        <p:nvSpPr>
          <p:cNvPr id="3" name="Content Placeholder 2">
            <a:extLst>
              <a:ext uri="{FF2B5EF4-FFF2-40B4-BE49-F238E27FC236}">
                <a16:creationId xmlns:a16="http://schemas.microsoft.com/office/drawing/2014/main" id="{476F0551-B6E7-9358-79EA-9B20DDC8DAF3}"/>
              </a:ext>
            </a:extLst>
          </p:cNvPr>
          <p:cNvSpPr>
            <a:spLocks noGrp="1"/>
          </p:cNvSpPr>
          <p:nvPr>
            <p:ph idx="1"/>
          </p:nvPr>
        </p:nvSpPr>
        <p:spPr/>
        <p:txBody>
          <a:bodyPr>
            <a:normAutofit/>
          </a:bodyPr>
          <a:lstStyle/>
          <a:p>
            <a:r>
              <a:rPr lang="en-GB" dirty="0"/>
              <a:t>This is a </a:t>
            </a:r>
            <a:r>
              <a:rPr lang="en-GB" b="1" i="1" dirty="0"/>
              <a:t>live coding</a:t>
            </a:r>
            <a:r>
              <a:rPr lang="en-GB" dirty="0"/>
              <a:t> session, so you’ll need to have R &amp; RStudio installed</a:t>
            </a:r>
          </a:p>
          <a:p>
            <a:r>
              <a:rPr lang="en-GB" dirty="0"/>
              <a:t>Open the workshop PDF file: </a:t>
            </a:r>
            <a:r>
              <a:rPr lang="en-GB" dirty="0">
                <a:hlinkClick r:id="rId2"/>
              </a:rPr>
              <a:t>https://github.com/dfe-analytical-services/techskills_workshops/blob/main/workshop_R.pdf</a:t>
            </a:r>
            <a:r>
              <a:rPr lang="en-GB" dirty="0"/>
              <a:t> </a:t>
            </a:r>
          </a:p>
          <a:p>
            <a:r>
              <a:rPr lang="en-GB" dirty="0"/>
              <a:t>Check you’ve got everything in the pre-workshop requirements. Get help from us if anything didn’t work!</a:t>
            </a:r>
          </a:p>
          <a:p>
            <a:pPr lvl="1"/>
            <a:r>
              <a:rPr lang="en-GB" dirty="0"/>
              <a:t>Download R for Windows (x64) and RStudio from the Software Centre on your DfE laptop.</a:t>
            </a:r>
          </a:p>
        </p:txBody>
      </p:sp>
    </p:spTree>
    <p:extLst>
      <p:ext uri="{BB962C8B-B14F-4D97-AF65-F5344CB8AC3E}">
        <p14:creationId xmlns:p14="http://schemas.microsoft.com/office/powerpoint/2010/main" val="916788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5E3D0-6F78-C65E-3F15-F318DE8EA252}"/>
              </a:ext>
            </a:extLst>
          </p:cNvPr>
          <p:cNvSpPr>
            <a:spLocks noGrp="1"/>
          </p:cNvSpPr>
          <p:nvPr>
            <p:ph type="title"/>
          </p:nvPr>
        </p:nvSpPr>
        <p:spPr>
          <a:xfrm>
            <a:off x="948890" y="365760"/>
            <a:ext cx="9692640" cy="738884"/>
          </a:xfrm>
        </p:spPr>
        <p:txBody>
          <a:bodyPr/>
          <a:lstStyle/>
          <a:p>
            <a:r>
              <a:rPr lang="en-GB" dirty="0"/>
              <a:t>Workshop topics</a:t>
            </a:r>
          </a:p>
        </p:txBody>
      </p:sp>
      <p:sp>
        <p:nvSpPr>
          <p:cNvPr id="3" name="Content Placeholder 2">
            <a:extLst>
              <a:ext uri="{FF2B5EF4-FFF2-40B4-BE49-F238E27FC236}">
                <a16:creationId xmlns:a16="http://schemas.microsoft.com/office/drawing/2014/main" id="{E683C1DA-456E-6C9E-E7EC-0776C4AB6FF6}"/>
              </a:ext>
            </a:extLst>
          </p:cNvPr>
          <p:cNvSpPr>
            <a:spLocks noGrp="1"/>
          </p:cNvSpPr>
          <p:nvPr>
            <p:ph idx="1"/>
          </p:nvPr>
        </p:nvSpPr>
        <p:spPr>
          <a:xfrm>
            <a:off x="384852" y="1348790"/>
            <a:ext cx="5705395" cy="5055079"/>
          </a:xfrm>
        </p:spPr>
        <p:txBody>
          <a:bodyPr>
            <a:normAutofit fontScale="25000" lnSpcReduction="20000"/>
          </a:bodyPr>
          <a:lstStyle/>
          <a:p>
            <a:r>
              <a:rPr lang="en-GB" sz="6400" dirty="0"/>
              <a:t>Introduction &amp; pre-workshop requirements</a:t>
            </a:r>
          </a:p>
          <a:p>
            <a:r>
              <a:rPr lang="en-GB" sz="6400" dirty="0"/>
              <a:t>Creating a project </a:t>
            </a:r>
          </a:p>
          <a:p>
            <a:r>
              <a:rPr lang="en-GB" sz="6400" dirty="0">
                <a:solidFill>
                  <a:srgbClr val="00B0F0"/>
                </a:solidFill>
              </a:rPr>
              <a:t>Using </a:t>
            </a:r>
            <a:r>
              <a:rPr lang="en-GB" sz="6400" dirty="0" err="1">
                <a:solidFill>
                  <a:srgbClr val="00B0F0"/>
                </a:solidFill>
              </a:rPr>
              <a:t>renv</a:t>
            </a:r>
            <a:r>
              <a:rPr lang="en-GB" sz="6400" dirty="0">
                <a:solidFill>
                  <a:srgbClr val="00B0F0"/>
                </a:solidFill>
              </a:rPr>
              <a:t> (optional) </a:t>
            </a:r>
          </a:p>
          <a:p>
            <a:r>
              <a:rPr lang="en-GB" sz="6400" dirty="0"/>
              <a:t>Your initial script</a:t>
            </a:r>
          </a:p>
          <a:p>
            <a:pPr lvl="1"/>
            <a:r>
              <a:rPr lang="en-GB" sz="6400" dirty="0">
                <a:solidFill>
                  <a:schemeClr val="tx1"/>
                </a:solidFill>
              </a:rPr>
              <a:t>Comments and headings</a:t>
            </a:r>
          </a:p>
          <a:p>
            <a:pPr lvl="1"/>
            <a:r>
              <a:rPr lang="en-GB" sz="6400" dirty="0">
                <a:solidFill>
                  <a:schemeClr val="tx1"/>
                </a:solidFill>
              </a:rPr>
              <a:t>Adding and running code</a:t>
            </a:r>
          </a:p>
          <a:p>
            <a:pPr lvl="1"/>
            <a:r>
              <a:rPr lang="en-GB" sz="6400" dirty="0">
                <a:solidFill>
                  <a:schemeClr val="tx1"/>
                </a:solidFill>
              </a:rPr>
              <a:t>Data types and objects</a:t>
            </a:r>
          </a:p>
          <a:p>
            <a:pPr lvl="1"/>
            <a:r>
              <a:rPr lang="en-GB" sz="6400" dirty="0">
                <a:solidFill>
                  <a:schemeClr val="tx1"/>
                </a:solidFill>
              </a:rPr>
              <a:t>Loading in the data</a:t>
            </a:r>
          </a:p>
          <a:p>
            <a:r>
              <a:rPr lang="en-GB" sz="6400" dirty="0"/>
              <a:t>Cleaning data</a:t>
            </a:r>
          </a:p>
          <a:p>
            <a:pPr lvl="1"/>
            <a:r>
              <a:rPr lang="en-GB" sz="6400" dirty="0"/>
              <a:t>Missing values</a:t>
            </a:r>
          </a:p>
          <a:p>
            <a:pPr lvl="1"/>
            <a:r>
              <a:rPr lang="en-GB" sz="6400" dirty="0"/>
              <a:t>Duplicates</a:t>
            </a:r>
          </a:p>
          <a:p>
            <a:r>
              <a:rPr lang="en-GB" sz="6400" dirty="0"/>
              <a:t>Descriptive statistics</a:t>
            </a:r>
          </a:p>
          <a:p>
            <a:r>
              <a:rPr lang="en-GB" sz="6400" dirty="0"/>
              <a:t>Manipulating data</a:t>
            </a:r>
          </a:p>
          <a:p>
            <a:pPr lvl="1"/>
            <a:r>
              <a:rPr lang="en-GB" sz="6400" dirty="0"/>
              <a:t>Aggregating</a:t>
            </a:r>
          </a:p>
          <a:p>
            <a:pPr lvl="1"/>
            <a:r>
              <a:rPr lang="en-GB" sz="6400" dirty="0"/>
              <a:t>Filtering</a:t>
            </a:r>
          </a:p>
          <a:p>
            <a:pPr lvl="1"/>
            <a:r>
              <a:rPr lang="en-GB" sz="6400" dirty="0"/>
              <a:t>Reordering &amp; renaming</a:t>
            </a:r>
          </a:p>
          <a:p>
            <a:r>
              <a:rPr lang="en-GB" sz="6800" dirty="0"/>
              <a:t>Writing functions &amp; if / </a:t>
            </a:r>
            <a:r>
              <a:rPr lang="en-GB" sz="6800" dirty="0" err="1"/>
              <a:t>ifelse</a:t>
            </a:r>
            <a:r>
              <a:rPr lang="en-GB" sz="6800" dirty="0"/>
              <a:t> statements</a:t>
            </a:r>
          </a:p>
          <a:p>
            <a:pPr lvl="1"/>
            <a:endParaRPr lang="en-GB" sz="6400" dirty="0"/>
          </a:p>
          <a:p>
            <a:pPr lvl="1"/>
            <a:endParaRPr lang="en-GB" sz="6400" dirty="0"/>
          </a:p>
          <a:p>
            <a:endParaRPr lang="en-GB" sz="2000" dirty="0"/>
          </a:p>
        </p:txBody>
      </p:sp>
      <p:sp>
        <p:nvSpPr>
          <p:cNvPr id="4" name="Content Placeholder 2">
            <a:extLst>
              <a:ext uri="{FF2B5EF4-FFF2-40B4-BE49-F238E27FC236}">
                <a16:creationId xmlns:a16="http://schemas.microsoft.com/office/drawing/2014/main" id="{D7327EB2-4E62-A191-17D8-59A03534EAF0}"/>
              </a:ext>
            </a:extLst>
          </p:cNvPr>
          <p:cNvSpPr txBox="1">
            <a:spLocks/>
          </p:cNvSpPr>
          <p:nvPr/>
        </p:nvSpPr>
        <p:spPr>
          <a:xfrm>
            <a:off x="6101753" y="1705771"/>
            <a:ext cx="5705395" cy="469809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GB" sz="1600" dirty="0"/>
              <a:t>Joining data</a:t>
            </a:r>
          </a:p>
          <a:p>
            <a:r>
              <a:rPr lang="en-GB" sz="1600" dirty="0"/>
              <a:t>Creating plots</a:t>
            </a:r>
          </a:p>
          <a:p>
            <a:r>
              <a:rPr lang="en-GB" sz="1600" dirty="0"/>
              <a:t>Creating functions for plots</a:t>
            </a:r>
          </a:p>
          <a:p>
            <a:r>
              <a:rPr lang="en-GB" sz="1600" dirty="0"/>
              <a:t>Using online resources</a:t>
            </a:r>
          </a:p>
          <a:p>
            <a:pPr lvl="1"/>
            <a:r>
              <a:rPr lang="en-GB" dirty="0">
                <a:solidFill>
                  <a:schemeClr val="tx1"/>
                </a:solidFill>
              </a:rPr>
              <a:t>Google questions and errors </a:t>
            </a:r>
          </a:p>
          <a:p>
            <a:pPr lvl="1"/>
            <a:r>
              <a:rPr lang="en-GB" dirty="0">
                <a:solidFill>
                  <a:schemeClr val="tx1"/>
                </a:solidFill>
              </a:rPr>
              <a:t>Using Copilot</a:t>
            </a:r>
          </a:p>
          <a:p>
            <a:r>
              <a:rPr lang="en-GB" sz="1600" dirty="0"/>
              <a:t>w-RAP it up</a:t>
            </a:r>
          </a:p>
          <a:p>
            <a:r>
              <a:rPr lang="en-GB" sz="1600" dirty="0">
                <a:solidFill>
                  <a:srgbClr val="00B0F0"/>
                </a:solidFill>
              </a:rPr>
              <a:t>Unit testing in R (optional)</a:t>
            </a:r>
          </a:p>
          <a:p>
            <a:r>
              <a:rPr lang="en-GB" sz="1600" dirty="0">
                <a:solidFill>
                  <a:srgbClr val="00B0F0"/>
                </a:solidFill>
              </a:rPr>
              <a:t>Accessing remote data (optional)</a:t>
            </a:r>
          </a:p>
          <a:p>
            <a:r>
              <a:rPr lang="en-GB" sz="1600" i="1" dirty="0" err="1">
                <a:solidFill>
                  <a:srgbClr val="00B0F0"/>
                </a:solidFill>
              </a:rPr>
              <a:t>dplyr</a:t>
            </a:r>
            <a:r>
              <a:rPr lang="en-GB" sz="1600" i="1" dirty="0">
                <a:solidFill>
                  <a:srgbClr val="00B0F0"/>
                </a:solidFill>
              </a:rPr>
              <a:t> vs. </a:t>
            </a:r>
            <a:r>
              <a:rPr lang="en-GB" sz="1600" i="1" dirty="0" err="1">
                <a:solidFill>
                  <a:srgbClr val="00B0F0"/>
                </a:solidFill>
              </a:rPr>
              <a:t>data.table</a:t>
            </a:r>
            <a:r>
              <a:rPr lang="en-GB" sz="1600" i="1" dirty="0">
                <a:solidFill>
                  <a:srgbClr val="00B0F0"/>
                </a:solidFill>
              </a:rPr>
              <a:t> (supplementary)</a:t>
            </a:r>
          </a:p>
          <a:p>
            <a:r>
              <a:rPr lang="en-GB" sz="1600" i="1" dirty="0">
                <a:solidFill>
                  <a:srgbClr val="00B0F0"/>
                </a:solidFill>
              </a:rPr>
              <a:t>Troubleshooting (supplementary</a:t>
            </a:r>
          </a:p>
          <a:p>
            <a:r>
              <a:rPr lang="en-GB" sz="1600" i="1" dirty="0">
                <a:solidFill>
                  <a:srgbClr val="00B0F0"/>
                </a:solidFill>
              </a:rPr>
              <a:t>Excel functions in R (supplementary)</a:t>
            </a:r>
          </a:p>
        </p:txBody>
      </p:sp>
    </p:spTree>
    <p:extLst>
      <p:ext uri="{BB962C8B-B14F-4D97-AF65-F5344CB8AC3E}">
        <p14:creationId xmlns:p14="http://schemas.microsoft.com/office/powerpoint/2010/main" val="2181686125"/>
      </p:ext>
    </p:extLst>
  </p:cSld>
  <p:clrMapOvr>
    <a:masterClrMapping/>
  </p:clrMapOvr>
</p:sld>
</file>

<file path=ppt/theme/theme1.xml><?xml version="1.0" encoding="utf-8"?>
<a:theme xmlns:a="http://schemas.openxmlformats.org/drawingml/2006/main" name="View">
  <a:themeElements>
    <a:clrScheme name="View">
      <a:dk1>
        <a:sysClr val="windowText" lastClr="000000"/>
      </a:dk1>
      <a:lt1>
        <a:sysClr val="window" lastClr="FFFFFF"/>
      </a:lt1>
      <a:dk2>
        <a:srgbClr val="564B3C"/>
      </a:dk2>
      <a:lt2>
        <a:srgbClr val="ECEDD1"/>
      </a:lt2>
      <a:accent1>
        <a:srgbClr val="93A299"/>
      </a:accent1>
      <a:accent2>
        <a:srgbClr val="CB4B30"/>
      </a:accent2>
      <a:accent3>
        <a:srgbClr val="B5AE53"/>
      </a:accent3>
      <a:accent4>
        <a:srgbClr val="6F6A7A"/>
      </a:accent4>
      <a:accent5>
        <a:srgbClr val="E8B54D"/>
      </a:accent5>
      <a:accent6>
        <a:srgbClr val="8A7952"/>
      </a:accent6>
      <a:hlink>
        <a:srgbClr val="9F9F0B"/>
      </a:hlink>
      <a:folHlink>
        <a:srgbClr val="B2B2B2"/>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3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866257B-E5CE-4C43-9210-F2DE76BE10B5}"/>
    </a:ext>
  </a:extLst>
</a:theme>
</file>

<file path=docProps/app.xml><?xml version="1.0" encoding="utf-8"?>
<Properties xmlns="http://schemas.openxmlformats.org/officeDocument/2006/extended-properties" xmlns:vt="http://schemas.openxmlformats.org/officeDocument/2006/docPropsVTypes">
  <Template>TM03457515[[fn=View]]</Template>
  <TotalTime>2269</TotalTime>
  <Words>1096</Words>
  <Application>Microsoft Office PowerPoint</Application>
  <PresentationFormat>Widescreen</PresentationFormat>
  <Paragraphs>92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 Schoolbook</vt:lpstr>
      <vt:lpstr>Wingdings 2</vt:lpstr>
      <vt:lpstr>View</vt:lpstr>
      <vt:lpstr>Introduction to R for Reproducible Analytical Pipelines</vt:lpstr>
      <vt:lpstr>Aims of this workshop</vt:lpstr>
      <vt:lpstr>Do you have any blockers or pain points with using R?</vt:lpstr>
      <vt:lpstr>Do you have any blockers or pain points with using R?</vt:lpstr>
      <vt:lpstr>What is R?</vt:lpstr>
      <vt:lpstr>R vs SQL</vt:lpstr>
      <vt:lpstr>RStudio</vt:lpstr>
      <vt:lpstr>What is RAP?</vt:lpstr>
      <vt:lpstr>What are the benefits?</vt:lpstr>
      <vt:lpstr>PowerPoint Presentation</vt:lpstr>
      <vt:lpstr>Getting set up</vt:lpstr>
      <vt:lpstr>Workshop topics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Development Workshop Introduction to using git</dc:title>
  <dc:creator>BIELBY, Richard</dc:creator>
  <cp:lastModifiedBy>GARBETT, Lara</cp:lastModifiedBy>
  <cp:revision>18</cp:revision>
  <dcterms:created xsi:type="dcterms:W3CDTF">2022-09-16T07:27:30Z</dcterms:created>
  <dcterms:modified xsi:type="dcterms:W3CDTF">2025-11-06T15:56:16Z</dcterms:modified>
</cp:coreProperties>
</file>